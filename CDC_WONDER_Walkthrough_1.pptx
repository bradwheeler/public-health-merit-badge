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21D2E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5120640" cy="5120640"/>
          </a:xfrm>
          <a:prstGeom prst="ellipse">
            <a:avLst/>
          </a:prstGeom>
          <a:solidFill>
            <a:srgbClr val="121D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8961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OF PUBLIC HEALTH DATA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F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numbers into informed decisions — starting with CDC WONDER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237744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160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in this deck is real — not a mockup. Follow along on your own laptop.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 · Requirement 7(b)(1)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CDC WONDER?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 (Wide-ranging ONline Data for Epidemiologic Research) is a free public tool that lets anyone query official U.S. government health statistics — no login, no cost, no special software.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15668" y="2606040"/>
            <a:ext cx="694944" cy="69494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011" y="2696383"/>
            <a:ext cx="514259" cy="514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place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National, state, or county-level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3774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4708" y="2606040"/>
            <a:ext cx="694944" cy="69494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051" y="2696383"/>
            <a:ext cx="514259" cy="5142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topics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Deaths, births, cancer, natality, and more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23774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3748" y="2606040"/>
            <a:ext cx="694944" cy="69494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091" y="2696383"/>
            <a:ext cx="514259" cy="51425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3383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7532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health departments use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572000"/>
            <a:ext cx="10652760" cy="1508760"/>
          </a:xfrm>
          <a:prstGeom prst="roundRect">
            <a:avLst>
              <a:gd name="adj" fmla="val 4848"/>
            </a:avLst>
          </a:prstGeom>
          <a:solidFill>
            <a:srgbClr val="1B2A41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80060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4889754"/>
            <a:ext cx="507492" cy="5074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this badge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691640" y="5120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7(b)(1) asks you to compare your community's leading causes of death and disease over the past five years. WONDER is where you go to actually find those numbers.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CDC WONDER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wonder.cdc.gov and find the mortality databases. We'll use Underlying Cause of Death — the dataset behind most “leading causes of death” statistics.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21D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657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 </a:t>
            </a:r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“Underlying Cause of Death”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685800"/>
            <a:ext cx="5486400" cy="4678623"/>
          </a:xfrm>
          <a:prstGeom prst="roundRect">
            <a:avLst>
              <a:gd name="adj" fmla="val 1173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68580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4E8EB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841248"/>
            <a:ext cx="5486400" cy="155448"/>
          </a:xfrm>
          <a:prstGeom prst="rect">
            <a:avLst/>
          </a:prstGeom>
          <a:solidFill>
            <a:srgbClr val="E4E8EB"/>
          </a:solidFill>
          <a:ln/>
        </p:spPr>
      </p:sp>
      <p:sp>
        <p:nvSpPr>
          <p:cNvPr id="10" name="Shape 8"/>
          <p:cNvSpPr/>
          <p:nvPr/>
        </p:nvSpPr>
        <p:spPr>
          <a:xfrm>
            <a:off x="6254496" y="790956"/>
            <a:ext cx="100584" cy="10058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11" name="Shape 9"/>
          <p:cNvSpPr/>
          <p:nvPr/>
        </p:nvSpPr>
        <p:spPr>
          <a:xfrm>
            <a:off x="6455664" y="790956"/>
            <a:ext cx="100584" cy="100584"/>
          </a:xfrm>
          <a:prstGeom prst="ellipse">
            <a:avLst/>
          </a:prstGeom>
          <a:solidFill>
            <a:srgbClr val="E8C34D"/>
          </a:solidFill>
          <a:ln/>
        </p:spPr>
      </p:sp>
      <p:sp>
        <p:nvSpPr>
          <p:cNvPr id="12" name="Shape 10"/>
          <p:cNvSpPr/>
          <p:nvPr/>
        </p:nvSpPr>
        <p:spPr>
          <a:xfrm>
            <a:off x="6656832" y="790956"/>
            <a:ext cx="100584" cy="100584"/>
          </a:xfrm>
          <a:prstGeom prst="ellipse">
            <a:avLst/>
          </a:prstGeom>
          <a:solidFill>
            <a:srgbClr val="6BBF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736092"/>
            <a:ext cx="448056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736092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wonder.cdc.gov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96696"/>
            <a:ext cx="5486400" cy="436772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Dataset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 offers a few versions of the mortality data. Use the most current one — it covers the widest, most recent span of years.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21D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429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“2018–2024: Underlying Cause of Death by Single-Race Categories”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685800"/>
            <a:ext cx="5486400" cy="4678623"/>
          </a:xfrm>
          <a:prstGeom prst="roundRect">
            <a:avLst>
              <a:gd name="adj" fmla="val 1173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68580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4E8EB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841248"/>
            <a:ext cx="5486400" cy="155448"/>
          </a:xfrm>
          <a:prstGeom prst="rect">
            <a:avLst/>
          </a:prstGeom>
          <a:solidFill>
            <a:srgbClr val="E4E8EB"/>
          </a:solidFill>
          <a:ln/>
        </p:spPr>
      </p:sp>
      <p:sp>
        <p:nvSpPr>
          <p:cNvPr id="10" name="Shape 8"/>
          <p:cNvSpPr/>
          <p:nvPr/>
        </p:nvSpPr>
        <p:spPr>
          <a:xfrm>
            <a:off x="6254496" y="790956"/>
            <a:ext cx="100584" cy="10058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11" name="Shape 9"/>
          <p:cNvSpPr/>
          <p:nvPr/>
        </p:nvSpPr>
        <p:spPr>
          <a:xfrm>
            <a:off x="6455664" y="790956"/>
            <a:ext cx="100584" cy="100584"/>
          </a:xfrm>
          <a:prstGeom prst="ellipse">
            <a:avLst/>
          </a:prstGeom>
          <a:solidFill>
            <a:srgbClr val="E8C34D"/>
          </a:solidFill>
          <a:ln/>
        </p:spPr>
      </p:sp>
      <p:sp>
        <p:nvSpPr>
          <p:cNvPr id="12" name="Shape 10"/>
          <p:cNvSpPr/>
          <p:nvPr/>
        </p:nvSpPr>
        <p:spPr>
          <a:xfrm>
            <a:off x="6656832" y="790956"/>
            <a:ext cx="100584" cy="100584"/>
          </a:xfrm>
          <a:prstGeom prst="ellipse">
            <a:avLst/>
          </a:prstGeom>
          <a:solidFill>
            <a:srgbClr val="6BBF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736092"/>
            <a:ext cx="448056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736092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wonder.cdc.gov/deaths-by-underlying-cause.html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96696"/>
            <a:ext cx="5486400" cy="436772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the Data Use Rules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WONDER dataset opens with its data use restrictions. This isn't boilerplate — read it. It's a real lesson in health data ethics.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121D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27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rule to notice: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not present or publish death counts of 9 or fewer” — this protects the privacy of small communities where individuals could be identified.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 </a:t>
            </a:r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Agree”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685800"/>
            <a:ext cx="5486400" cy="4536667"/>
          </a:xfrm>
          <a:prstGeom prst="roundRect">
            <a:avLst>
              <a:gd name="adj" fmla="val 1209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68580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4E8EB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841248"/>
            <a:ext cx="5486400" cy="155448"/>
          </a:xfrm>
          <a:prstGeom prst="rect">
            <a:avLst/>
          </a:prstGeom>
          <a:solidFill>
            <a:srgbClr val="E4E8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4496" y="790956"/>
            <a:ext cx="100584" cy="10058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5664" y="790956"/>
            <a:ext cx="100584" cy="100584"/>
          </a:xfrm>
          <a:prstGeom prst="ellipse">
            <a:avLst/>
          </a:prstGeom>
          <a:solidFill>
            <a:srgbClr val="E8C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6832" y="790956"/>
            <a:ext cx="100584" cy="100584"/>
          </a:xfrm>
          <a:prstGeom prst="ellipse">
            <a:avLst/>
          </a:prstGeom>
          <a:solidFill>
            <a:srgbClr val="6BBF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736092"/>
            <a:ext cx="448056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736092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wonder.cdc.gov/ucd-icd10-expanded.html</a:t>
            </a:r>
            <a:endParaRPr lang="en-US" sz="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96696"/>
            <a:ext cx="5486400" cy="422577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Query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choices shape everything: what to group by, and where. We'll rank causes of death and narrow the location to one state.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21D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Results By: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Leading Causes of Death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Location: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state (e.g. North Carolina)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Year/Month section further down lets you pick a single year instead of the full range.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685800"/>
            <a:ext cx="5486400" cy="4641108"/>
          </a:xfrm>
          <a:prstGeom prst="roundRect">
            <a:avLst>
              <a:gd name="adj" fmla="val 1182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68580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4E8EB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841248"/>
            <a:ext cx="5486400" cy="155448"/>
          </a:xfrm>
          <a:prstGeom prst="rect">
            <a:avLst/>
          </a:prstGeom>
          <a:solidFill>
            <a:srgbClr val="E4E8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4496" y="790956"/>
            <a:ext cx="100584" cy="10058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5664" y="790956"/>
            <a:ext cx="100584" cy="100584"/>
          </a:xfrm>
          <a:prstGeom prst="ellipse">
            <a:avLst/>
          </a:prstGeom>
          <a:solidFill>
            <a:srgbClr val="E8C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6832" y="790956"/>
            <a:ext cx="100584" cy="100584"/>
          </a:xfrm>
          <a:prstGeom prst="ellipse">
            <a:avLst/>
          </a:prstGeom>
          <a:solidFill>
            <a:srgbClr val="6BBF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736092"/>
            <a:ext cx="448056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736092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wonder.cdc.gov/controller/datarequest/D158</a:t>
            </a:r>
            <a:endParaRPr lang="en-US" sz="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96696"/>
            <a:ext cx="5486400" cy="43302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It, Then Read the Table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and click any Send button. WONDER returns a ranked table — largest cause of death first.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21D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Carolina, 2024 — top 2 causes: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Malignant neoplasms (cancer) — 21,236 deaths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Diseases of heart — 21,126 deaths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two are nearly tied — a real, current snapshot of the state's biggest health challenges.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685800"/>
            <a:ext cx="5486400" cy="4641108"/>
          </a:xfrm>
          <a:prstGeom prst="roundRect">
            <a:avLst>
              <a:gd name="adj" fmla="val 1182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68580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4E8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841248"/>
            <a:ext cx="5486400" cy="155448"/>
          </a:xfrm>
          <a:prstGeom prst="rect">
            <a:avLst/>
          </a:prstGeom>
          <a:solidFill>
            <a:srgbClr val="E4E8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4496" y="790956"/>
            <a:ext cx="100584" cy="10058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5664" y="790956"/>
            <a:ext cx="100584" cy="100584"/>
          </a:xfrm>
          <a:prstGeom prst="ellipse">
            <a:avLst/>
          </a:prstGeom>
          <a:solidFill>
            <a:srgbClr val="E8C34D"/>
          </a:solidFill>
          <a:ln/>
        </p:spPr>
      </p:sp>
      <p:sp>
        <p:nvSpPr>
          <p:cNvPr id="15" name="Shape 13"/>
          <p:cNvSpPr/>
          <p:nvPr/>
        </p:nvSpPr>
        <p:spPr>
          <a:xfrm>
            <a:off x="6656832" y="790956"/>
            <a:ext cx="100584" cy="100584"/>
          </a:xfrm>
          <a:prstGeom prst="ellipse">
            <a:avLst/>
          </a:prstGeom>
          <a:solidFill>
            <a:srgbClr val="6BBF6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736092"/>
            <a:ext cx="448056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736092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wonder.cdc.gov — Results</a:t>
            </a:r>
            <a:endParaRPr lang="en-US" sz="9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96696"/>
            <a:ext cx="5486400" cy="43302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Double-Check Your Query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trust any result, click “Query Criteria.” It's a plain-English receipt of exactly what you asked for.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21D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 for any data tool: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the state, year, and grouping match what you meant to ask — it's easy to mis-click a dropdown.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we caught a wrong year during this deck's own research!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685800"/>
            <a:ext cx="5486400" cy="4641108"/>
          </a:xfrm>
          <a:prstGeom prst="roundRect">
            <a:avLst>
              <a:gd name="adj" fmla="val 1182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68580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4E8EB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841248"/>
            <a:ext cx="5486400" cy="155448"/>
          </a:xfrm>
          <a:prstGeom prst="rect">
            <a:avLst/>
          </a:prstGeom>
          <a:solidFill>
            <a:srgbClr val="E4E8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4496" y="790956"/>
            <a:ext cx="100584" cy="10058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5664" y="790956"/>
            <a:ext cx="100584" cy="100584"/>
          </a:xfrm>
          <a:prstGeom prst="ellipse">
            <a:avLst/>
          </a:prstGeom>
          <a:solidFill>
            <a:srgbClr val="E8C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6832" y="790956"/>
            <a:ext cx="100584" cy="100584"/>
          </a:xfrm>
          <a:prstGeom prst="ellipse">
            <a:avLst/>
          </a:prstGeom>
          <a:solidFill>
            <a:srgbClr val="6BBF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736092"/>
            <a:ext cx="448056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736092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wonder.cdc.gov — Query Criteria</a:t>
            </a:r>
            <a:endParaRPr lang="en-US" sz="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96696"/>
            <a:ext cx="5486400" cy="43302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3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Chart tab for an instant bar graph — no spreadsheet work required. Great for a presentation to your counselor.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21D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jumps out visually: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bars tower over the rest — cancer and heart disease dominate NC mortality far more than any other single cause.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685800"/>
            <a:ext cx="5486400" cy="4641108"/>
          </a:xfrm>
          <a:prstGeom prst="roundRect">
            <a:avLst>
              <a:gd name="adj" fmla="val 1182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68580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E4E8EB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841248"/>
            <a:ext cx="5486400" cy="155448"/>
          </a:xfrm>
          <a:prstGeom prst="rect">
            <a:avLst/>
          </a:prstGeom>
          <a:solidFill>
            <a:srgbClr val="E4E8EB"/>
          </a:solidFill>
          <a:ln/>
        </p:spPr>
      </p:sp>
      <p:sp>
        <p:nvSpPr>
          <p:cNvPr id="11" name="Shape 9"/>
          <p:cNvSpPr/>
          <p:nvPr/>
        </p:nvSpPr>
        <p:spPr>
          <a:xfrm>
            <a:off x="6254496" y="790956"/>
            <a:ext cx="100584" cy="100584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5664" y="790956"/>
            <a:ext cx="100584" cy="100584"/>
          </a:xfrm>
          <a:prstGeom prst="ellipse">
            <a:avLst/>
          </a:prstGeom>
          <a:solidFill>
            <a:srgbClr val="E8C34D"/>
          </a:solidFill>
          <a:ln/>
        </p:spPr>
      </p:sp>
      <p:sp>
        <p:nvSpPr>
          <p:cNvPr id="13" name="Shape 11"/>
          <p:cNvSpPr/>
          <p:nvPr/>
        </p:nvSpPr>
        <p:spPr>
          <a:xfrm>
            <a:off x="6656832" y="790956"/>
            <a:ext cx="100584" cy="100584"/>
          </a:xfrm>
          <a:prstGeom prst="ellipse">
            <a:avLst/>
          </a:prstGeom>
          <a:solidFill>
            <a:srgbClr val="6BBF6B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736092"/>
            <a:ext cx="448056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736092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wonder.cdc.gov — Chart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96696"/>
            <a:ext cx="5486400" cy="43302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DOTS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 Is Only Half the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7(b)(1) asks for two different lists — don't stop at WONDER for both of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51825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 (death)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CDC WONDER's Underlying Cause of Death database gives you — what we just queried.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42316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738" y="251825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Morbidity (illness)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63640" y="3063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leading causes of disease, check your state health department's website or the CDC's BRFSS / County Health Rankings data instead.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10652760" cy="1645920"/>
          </a:xfrm>
          <a:prstGeom prst="roundRect">
            <a:avLst>
              <a:gd name="adj" fmla="val 4444"/>
            </a:avLst>
          </a:prstGeom>
          <a:solidFill>
            <a:srgbClr val="1B2A41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66344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4752594"/>
            <a:ext cx="507492" cy="5074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 for your counselor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49834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same conditions show up on both your mortality list and your morbidity list? What might explain the overlaps — or the differences?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IT'S YOUR 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steps, your own questions. Here are four easy tweaks to explore on your own laptop.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121D2E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4688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138" y="256397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state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North Carolina for your own state, or compare two states side by side.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0128" y="21945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121D2E"/>
          </a:solidFill>
          <a:ln/>
        </p:spPr>
      </p:sp>
      <p:sp>
        <p:nvSpPr>
          <p:cNvPr id="11" name="Shape 8"/>
          <p:cNvSpPr/>
          <p:nvPr/>
        </p:nvSpPr>
        <p:spPr>
          <a:xfrm>
            <a:off x="4224528" y="24688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626" y="256397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year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different year from Step 4 — has the ranking shifted over the past 5 years?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71616" y="21945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121D2E"/>
          </a:solidFill>
          <a:ln/>
        </p:spPr>
      </p:sp>
      <p:sp>
        <p:nvSpPr>
          <p:cNvPr id="16" name="Shape 12"/>
          <p:cNvSpPr/>
          <p:nvPr/>
        </p:nvSpPr>
        <p:spPr>
          <a:xfrm>
            <a:off x="6986016" y="24688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4" y="256397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Multiple Cause of Death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00216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related dataset on the WONDER homepage — counts every condition listed on a death certificate, not just the underlying one.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833104" y="21945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121D2E"/>
          </a:solidFill>
          <a:ln/>
        </p:spPr>
      </p:sp>
      <p:sp>
        <p:nvSpPr>
          <p:cNvPr id="21" name="Shape 16"/>
          <p:cNvSpPr/>
          <p:nvPr/>
        </p:nvSpPr>
        <p:spPr>
          <a:xfrm>
            <a:off x="9747504" y="24688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602" y="256397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15984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age or sex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061704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“And By” selection in Step 4 to see how leading causes shift across groups.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21D2E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5120640" cy="5120640"/>
          </a:xfrm>
          <a:prstGeom prst="ellipse">
            <a:avLst/>
          </a:prstGeom>
          <a:solidFill>
            <a:srgbClr val="121D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WONDER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Dashboards, Real Publications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firsthand look at how one state health department's dashboards — and the scientists behind them — tracked COVID-19 from the very first case to today.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DASHBOARD'S LIFE,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Day One of the Pandemic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North Carolina COVID-19 dashboard, captured at three points in its life — as the pandemic itself changed.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21208" y="1847088"/>
            <a:ext cx="3300984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24612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05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23360" y="1847088"/>
            <a:ext cx="3300984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1874520"/>
            <a:ext cx="3246120" cy="365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50792" y="5605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525512" y="1847088"/>
            <a:ext cx="3300984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1874520"/>
            <a:ext cx="3246120" cy="3657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52944" y="5605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Brad Wheeler, “Seed, Storm, and Stewardship” — NCPHA Public Health Data Summit, May 2026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DASHBOARD'S LIFE,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Running Today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COVID-only dashboard was eventually folded into a broader respiratory-virus surveillance system — covering flu and RSV too.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21208" y="1847088"/>
            <a:ext cx="4215384" cy="4032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416052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704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county-by-county risk map, 2022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47488" y="1847088"/>
            <a:ext cx="2889504" cy="4032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2834640" cy="3977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4920" y="5870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today: NC Respiratory Virus Surveillance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75320" y="187452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1B2A41"/>
          </a:solidFill>
          <a:ln/>
        </p:spPr>
      </p:sp>
      <p:sp>
        <p:nvSpPr>
          <p:cNvPr id="12" name="Text 8"/>
          <p:cNvSpPr/>
          <p:nvPr/>
        </p:nvSpPr>
        <p:spPr>
          <a:xfrm>
            <a:off x="85039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mission, wider lens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503920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dashboards eventually retired in favor of a combined respiratory-illness view — because by 2023, COVID was one of several viruses driving ER visits each winter, not the only one.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50392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dph.ncdhhs.gov — search “Respiratory Virus Summary Dashboard”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DEEPER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Every Dashboard Is Raw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chart renders, someone builds a pipeline to clean, link, and validate the numbers feeding it — every single 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44168" y="2121408"/>
            <a:ext cx="947318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48840"/>
            <a:ext cx="9418320" cy="3986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case and testing data that fed the public dashboard above — 2020, North Carolina.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IN 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Data Becomes Science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linked case, testing, and vaccination data behind the dashboards was also used to answer a bigger question: how well did the COVID-19 vaccines actually work?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21208" y="1938528"/>
            <a:ext cx="6364224" cy="293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30936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59168" y="1938528"/>
            <a:ext cx="4581144" cy="398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65960"/>
            <a:ext cx="4526280" cy="3931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0292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1B2A41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0292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 were highly effective at preventing infection, hospitalization, and death — but that protection waned over the following months.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STUDY, ONE YEAR LATER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Boosters and Prior Infection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study asked a more complete question: how does protection compare across primary vaccination, boosters, and prior infection?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21208" y="1938528"/>
            <a:ext cx="6455664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400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" y="3950208"/>
            <a:ext cx="6455664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640080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78040" y="1965960"/>
            <a:ext cx="4434840" cy="4297680"/>
          </a:xfrm>
          <a:prstGeom prst="roundRect">
            <a:avLst>
              <a:gd name="adj" fmla="val 1702"/>
            </a:avLst>
          </a:prstGeom>
          <a:solidFill>
            <a:srgbClr val="1B2A41"/>
          </a:solidFill>
          <a:ln/>
        </p:spPr>
      </p:sp>
      <p:sp>
        <p:nvSpPr>
          <p:cNvPr id="10" name="Text 6"/>
          <p:cNvSpPr/>
          <p:nvPr/>
        </p:nvSpPr>
        <p:spPr>
          <a:xfrm>
            <a:off x="7406640" y="2194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papers, one dataset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06640" y="26974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linked NC COVID-19 Surveillance System and Vaccine Management System data powered both studies — a reminder that good infrastructure pays off more than once.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406640" y="4251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prompt: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406640" y="4590288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researchers publish a second, more detailed study instead of just updating the first one?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KIND OF PUBLICATION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Public Health Report Triggers a National Recall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52760" cy="1371600"/>
          </a:xfrm>
          <a:prstGeom prst="roundRect">
            <a:avLst>
              <a:gd name="adj" fmla="val 5333"/>
            </a:avLst>
          </a:prstGeom>
          <a:solidFill>
            <a:srgbClr val="121D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Napier MD, Huneycutt A, Moore C, et al.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“Childhood Lead Exposure Linked to Apple Cinnamon Fruit Puree Pouches — North Carolina, June 2023–January 2024.”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MMWR Morb Mortal Wkly Rep 2024;73:622–627  ·  All nine authors: NC DHHS (Children's Environmental Health, State Lab of Public Health, Environmental Health Section)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NC children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flagged the signal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25196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detected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795528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recall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further exposure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652760" cy="1234440"/>
          </a:xfrm>
          <a:prstGeom prst="roundRect">
            <a:avLst>
              <a:gd name="adj" fmla="val 5926"/>
            </a:avLst>
          </a:prstGeom>
          <a:solidFill>
            <a:srgbClr val="F4EFE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29200"/>
            <a:ext cx="10104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2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routine surveillance → a health department notices a signal → investigation → published report → nationwide action. It's the same cycle as the cyclosporiasis case study — just with a different pathogen and a different food.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E8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WONDER WALKTHROUGH  ·  PUBLIC HEALTH MERIT BADGE, REQ. 7(b)(1)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21D2E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21D2E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687" y="131947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14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Know Where to Look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query you ran yourself to the dashboards and papers behind real decisions — public health data isn't hidden. You just have to know where to look, and how to read it.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90008" y="4343400"/>
            <a:ext cx="2011680" cy="3657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 · Requirement 7(b)(1)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2026-08-03T18:42:09Z</dcterms:created>
  <dcterms:modified xsi:type="dcterms:W3CDTF">2026-08-03T18:42:09Z</dcterms:modified>
</cp:coreProperties>
</file>