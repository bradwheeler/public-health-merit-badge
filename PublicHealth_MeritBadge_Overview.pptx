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400800" cy="6400800"/>
          </a:xfrm>
          <a:prstGeom prst="ellipse">
            <a:avLst/>
          </a:prstGeom>
          <a:solidFill>
            <a:srgbClr val="1E332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E332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HEALTH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Merit Badge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377440" cy="41148"/>
          </a:xfrm>
          <a:prstGeom prst="rect">
            <a:avLst/>
          </a:prstGeom>
          <a:solidFill>
            <a:srgbClr val="C1652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434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person, to a family, to a whole community — how we keep each other well.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Session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TRAIL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Requirements, One Badge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1801368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527" y="1891711"/>
            <a:ext cx="514259" cy="5142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23744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99008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public health is, and how 10 diseases spread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6002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78808" y="1801368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151" y="1891711"/>
            <a:ext cx="514259" cy="5142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92424" y="26060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Immunization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92424" y="299008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Vaccines: childhood, periodic, and annual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61888" y="16002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85432" y="1801368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775" y="1891711"/>
            <a:ext cx="514259" cy="5142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36992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099048" y="26060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Water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99048" y="299008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Purifying water and sanitizing dishes at camp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668512" y="160020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92056" y="1801368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399" y="1891711"/>
            <a:ext cx="514259" cy="51425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43616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805672" y="26060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805672" y="299008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Insects, rodents, and how to control them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472184" y="4334256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527" y="4424599"/>
            <a:ext cx="514259" cy="51425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523744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685800" y="51389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Visit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85800" y="5522976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treatment or food service, your choice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255264" y="413308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178808" y="4334256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9151" y="4424599"/>
            <a:ext cx="514259" cy="514259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230368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3392424" y="51389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Risks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3392424" y="5522976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Pollution, tobacco, alcohol, and drug abuse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961888" y="413308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885432" y="4334256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5775" y="4424599"/>
            <a:ext cx="514259" cy="514259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936992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6099048" y="51389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Agency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6099048" y="5522976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Mortality, outbreaks, and disaster response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8668512" y="413308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592056" y="4334256"/>
            <a:ext cx="694944" cy="694944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2399" y="4424599"/>
            <a:ext cx="514259" cy="514259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643616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0"/>
          <p:cNvSpPr/>
          <p:nvPr/>
        </p:nvSpPr>
        <p:spPr>
          <a:xfrm>
            <a:off x="8805672" y="51389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</a:t>
            </a:r>
            <a:endParaRPr lang="en-US" sz="1500" dirty="0"/>
          </a:p>
        </p:txBody>
      </p:sp>
      <p:sp>
        <p:nvSpPr>
          <p:cNvPr id="51" name="Text 41"/>
          <p:cNvSpPr/>
          <p:nvPr/>
        </p:nvSpPr>
        <p:spPr>
          <a:xfrm>
            <a:off x="8805672" y="5522976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health profession that interests you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1(A)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Public Health?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and improving the health of whole populations — through prevention, education, and community-wide action — rather than treating one patient at a time.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AT FIVE LEVELS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10515600" cy="0"/>
          </a:xfrm>
          <a:prstGeom prst="line">
            <a:avLst/>
          </a:prstGeom>
          <a:noFill/>
          <a:ln w="25400">
            <a:solidFill>
              <a:srgbClr val="8A9A7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3063240"/>
            <a:ext cx="640080" cy="640080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31820" y="3063240"/>
            <a:ext cx="640080" cy="640080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1" name="Text 9"/>
          <p:cNvSpPr/>
          <p:nvPr/>
        </p:nvSpPr>
        <p:spPr>
          <a:xfrm>
            <a:off x="31318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7462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0720" y="3063240"/>
            <a:ext cx="640080" cy="640080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89620" y="3063240"/>
            <a:ext cx="640080" cy="640080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96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3242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State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018520" y="3063240"/>
            <a:ext cx="640080" cy="640080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20" name="Text 18"/>
          <p:cNvSpPr/>
          <p:nvPr/>
        </p:nvSpPr>
        <p:spPr>
          <a:xfrm>
            <a:off x="11018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6132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2C4A3E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80060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Scout who washes their hands, gets vaccinated, or stays home sick </a:t>
            </a:r>
            <a:pPr indent="0" marL="0">
              <a:buNone/>
            </a:pPr>
            <a:r>
              <a:rPr lang="en-US" sz="1600" b="1" i="1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practicing public health.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1(B)–(D)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Diseases, Four Forms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required + choose 4 more. For all 10, know the form, vector, prevention, and treatment.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ALL 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2606040"/>
            <a:ext cx="109728" cy="109728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coli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96112" y="3090672"/>
            <a:ext cx="109728" cy="109728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Tetanus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96112" y="3575304"/>
            <a:ext cx="109728" cy="109728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838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(HIV)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96112" y="4059936"/>
            <a:ext cx="109728" cy="109728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968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Encephalitis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96112" y="4544568"/>
            <a:ext cx="109728" cy="109728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453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Salmonellosis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96112" y="5029200"/>
            <a:ext cx="109728" cy="109728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Lyme disease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96112" y="5513832"/>
            <a:ext cx="109728" cy="109728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422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035040" y="196596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4 OF 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697480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Gonorrhea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69680" y="2697480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26" name="Text 24"/>
          <p:cNvSpPr/>
          <p:nvPr/>
        </p:nvSpPr>
        <p:spPr>
          <a:xfrm>
            <a:off x="91165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Nile virus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3264408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28" name="Text 26"/>
          <p:cNvSpPr/>
          <p:nvPr/>
        </p:nvSpPr>
        <p:spPr>
          <a:xfrm>
            <a:off x="6601968" y="3172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Botulism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869680" y="3264408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30" name="Text 28"/>
          <p:cNvSpPr/>
          <p:nvPr/>
        </p:nvSpPr>
        <p:spPr>
          <a:xfrm>
            <a:off x="9116568" y="3172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3831336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32" name="Text 30"/>
          <p:cNvSpPr/>
          <p:nvPr/>
        </p:nvSpPr>
        <p:spPr>
          <a:xfrm>
            <a:off x="6601968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Syphilis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869680" y="3831336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34" name="Text 32"/>
          <p:cNvSpPr/>
          <p:nvPr/>
        </p:nvSpPr>
        <p:spPr>
          <a:xfrm>
            <a:off x="9116568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4398264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36" name="Text 34"/>
          <p:cNvSpPr/>
          <p:nvPr/>
        </p:nvSpPr>
        <p:spPr>
          <a:xfrm>
            <a:off x="6601968" y="4306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9680" y="4398264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38" name="Text 36"/>
          <p:cNvSpPr/>
          <p:nvPr/>
        </p:nvSpPr>
        <p:spPr>
          <a:xfrm>
            <a:off x="9116568" y="43068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Meningitis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55080" y="4965192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40" name="Text 38"/>
          <p:cNvSpPr/>
          <p:nvPr/>
        </p:nvSpPr>
        <p:spPr>
          <a:xfrm>
            <a:off x="6601968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Herpes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869680" y="4965192"/>
            <a:ext cx="109728" cy="109728"/>
          </a:xfrm>
          <a:prstGeom prst="ellipse">
            <a:avLst/>
          </a:prstGeom>
          <a:solidFill>
            <a:srgbClr val="8A9A7E"/>
          </a:solidFill>
          <a:ln/>
        </p:spPr>
      </p:sp>
      <p:sp>
        <p:nvSpPr>
          <p:cNvPr id="42" name="Text 40"/>
          <p:cNvSpPr/>
          <p:nvPr/>
        </p:nvSpPr>
        <p:spPr>
          <a:xfrm>
            <a:off x="9116568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poisoning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Immunization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 trains your immune system to recognize and fight a disease — before you ever catch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E3329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2606040"/>
            <a:ext cx="731520" cy="731520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478" y="270113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474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a young child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immunized against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E3329"/>
          </a:solidFill>
          <a:ln/>
        </p:spPr>
      </p:sp>
      <p:sp>
        <p:nvSpPr>
          <p:cNvPr id="11" name="Shape 8"/>
          <p:cNvSpPr/>
          <p:nvPr/>
        </p:nvSpPr>
        <p:spPr>
          <a:xfrm>
            <a:off x="5646420" y="2606040"/>
            <a:ext cx="731520" cy="731520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518" y="270113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3474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4" name="Text 10"/>
          <p:cNvSpPr/>
          <p:nvPr/>
        </p:nvSpPr>
        <p:spPr>
          <a:xfrm>
            <a:off x="4572000" y="4526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everyone should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reimmunized against periodically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22860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E3329"/>
          </a:solidFill>
          <a:ln/>
        </p:spPr>
      </p:sp>
      <p:sp>
        <p:nvSpPr>
          <p:cNvPr id="16" name="Shape 12"/>
          <p:cNvSpPr/>
          <p:nvPr/>
        </p:nvSpPr>
        <p:spPr>
          <a:xfrm>
            <a:off x="9395460" y="2606040"/>
            <a:ext cx="731520" cy="731520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558" y="270113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3474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9" name="Text 14"/>
          <p:cNvSpPr/>
          <p:nvPr/>
        </p:nvSpPr>
        <p:spPr>
          <a:xfrm>
            <a:off x="8321040" y="4526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 everyone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receive annually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disease list from Requirement 1, which ones have no immunization available at all?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Drinking Water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water is one of the oldest and most common ways disease spreads — which is why treating it is a core public health task.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822960" cy="822960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5" y="2484425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651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water to a rolling boil for at least 1 minute (3 at high altitude) to kill pathogens.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2377440"/>
            <a:ext cx="822960" cy="822960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905" y="2484425"/>
            <a:ext cx="608990" cy="60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Treatment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23760" y="2651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Iodine or chlorine tablets/drops disinfect water when boiling isn't practical.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CAMP AND AT HOME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389120"/>
            <a:ext cx="146304" cy="146304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4343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dishes in hot, soapy water — then sanitize in a second hot rinse.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4983480"/>
            <a:ext cx="146304" cy="146304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Air-dry dishes on a clean rack rather than a shared towel.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48640" y="5577840"/>
            <a:ext cx="146304" cy="146304"/>
          </a:xfrm>
          <a:prstGeom prst="ellipse">
            <a:avLst/>
          </a:prstGeom>
          <a:solidFill>
            <a:srgbClr val="2C4A3E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clean dishes and utensils covered, off the ground.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Vectors: The Middlemen of Disease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is a living organism — usually an insect or rodent — that carries a pathogen from one host to another.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46065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Individuals Can Control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209544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1546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insect repellent and screens on windows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831336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7764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standing water (buckets, gutters, tires)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453128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3982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food and trash in sealed containers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5074920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502005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grass trimmed and woodpiles away from the house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35040" y="2148840"/>
            <a:ext cx="5577840" cy="3840480"/>
          </a:xfrm>
          <a:prstGeom prst="roundRect">
            <a:avLst>
              <a:gd name="adj" fmla="val 1905"/>
            </a:avLst>
          </a:prstGeom>
          <a:solidFill>
            <a:srgbClr val="2C4A3E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5080" y="2377440"/>
            <a:ext cx="640080" cy="640080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290" y="2460650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Communities Must Coordinate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355080" y="3209544"/>
            <a:ext cx="128016" cy="128016"/>
          </a:xfrm>
          <a:prstGeom prst="ellipse">
            <a:avLst/>
          </a:prstGeom>
          <a:solidFill>
            <a:srgbClr val="C9C2A0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mosquito spraying and larvicide programs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355080" y="3831336"/>
            <a:ext cx="128016" cy="128016"/>
          </a:xfrm>
          <a:prstGeom prst="ellipse">
            <a:avLst/>
          </a:prstGeom>
          <a:solidFill>
            <a:srgbClr val="C9C2A0"/>
          </a:solidFill>
          <a:ln/>
        </p:spPr>
      </p:sp>
      <p:sp>
        <p:nvSpPr>
          <p:cNvPr id="24" name="Text 20"/>
          <p:cNvSpPr/>
          <p:nvPr/>
        </p:nvSpPr>
        <p:spPr>
          <a:xfrm>
            <a:off x="6629400" y="3776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Rodent control in sewers and public waste sites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355080" y="4453128"/>
            <a:ext cx="128016" cy="128016"/>
          </a:xfrm>
          <a:prstGeom prst="ellipse">
            <a:avLst/>
          </a:prstGeom>
          <a:solidFill>
            <a:srgbClr val="C9C2A0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439826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Wetland and drainage management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355080" y="5074920"/>
            <a:ext cx="128016" cy="128016"/>
          </a:xfrm>
          <a:prstGeom prst="ellipse">
            <a:avLst/>
          </a:prstGeom>
          <a:solidFill>
            <a:srgbClr val="C9C2A0"/>
          </a:solidFill>
          <a:ln/>
        </p:spPr>
      </p:sp>
      <p:sp>
        <p:nvSpPr>
          <p:cNvPr id="28" name="Text 24"/>
          <p:cNvSpPr/>
          <p:nvPr/>
        </p:nvSpPr>
        <p:spPr>
          <a:xfrm>
            <a:off x="6629400" y="50200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for vector-borne disease (like West Nile)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Facility to Visit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parent/guardian's and counselor's approval, choose ONE option below.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777240" cy="777240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247848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Wastewater / Solid Waste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3832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facility safely treats or disposes of sewage or waste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4480560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4348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sewage/waste should be handled under wilderness camping conditions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9320" y="210312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2377440"/>
            <a:ext cx="777240" cy="777240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681" y="2478481"/>
            <a:ext cx="575158" cy="5751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Service Facility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263640" y="3429000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18" name="Text 14"/>
          <p:cNvSpPr/>
          <p:nvPr/>
        </p:nvSpPr>
        <p:spPr>
          <a:xfrm>
            <a:off x="6537960" y="33832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food prep, handling, and storage prevent contamination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63640" y="4480560"/>
            <a:ext cx="128016" cy="128016"/>
          </a:xfrm>
          <a:prstGeom prst="ellipse">
            <a:avLst/>
          </a:prstGeom>
          <a:solidFill>
            <a:srgbClr val="C1652E"/>
          </a:solidFill>
          <a:ln/>
        </p:spPr>
      </p:sp>
      <p:sp>
        <p:nvSpPr>
          <p:cNvPr id="20" name="Text 16"/>
          <p:cNvSpPr/>
          <p:nvPr/>
        </p:nvSpPr>
        <p:spPr>
          <a:xfrm>
            <a:off x="6537960" y="44348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lets microorganisms grow — and how a thermometer checks food safety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Health Dangers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E3329"/>
          </a:solidFill>
          <a:ln/>
        </p:spPr>
      </p:sp>
      <p:sp>
        <p:nvSpPr>
          <p:cNvPr id="5" name="Shape 3"/>
          <p:cNvSpPr/>
          <p:nvPr/>
        </p:nvSpPr>
        <p:spPr>
          <a:xfrm>
            <a:off x="1879092" y="2514600"/>
            <a:ext cx="768096" cy="768096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944" y="2614452"/>
            <a:ext cx="568391" cy="568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Pollution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0233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Air, water, and noise pollution all carry documented health risks to communities.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21945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E3329"/>
          </a:solidFill>
          <a:ln/>
        </p:spPr>
      </p:sp>
      <p:sp>
        <p:nvSpPr>
          <p:cNvPr id="10" name="Shape 7"/>
          <p:cNvSpPr/>
          <p:nvPr/>
        </p:nvSpPr>
        <p:spPr>
          <a:xfrm>
            <a:off x="5628132" y="2514600"/>
            <a:ext cx="768096" cy="768096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984" y="2614452"/>
            <a:ext cx="568391" cy="5683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Substance Use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40233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Tobacco, alcohol, and drug abuse remain leading preventable causes of disease and death.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1945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E3329"/>
          </a:solidFill>
          <a:ln/>
        </p:spPr>
      </p:sp>
      <p:sp>
        <p:nvSpPr>
          <p:cNvPr id="15" name="Shape 11"/>
          <p:cNvSpPr/>
          <p:nvPr/>
        </p:nvSpPr>
        <p:spPr>
          <a:xfrm>
            <a:off x="9377172" y="2514600"/>
            <a:ext cx="768096" cy="768096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024" y="2614452"/>
            <a:ext cx="568391" cy="5683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 Misuse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40233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Abusing illegal or prescription drugs carries its own distinct set of dangers.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7(A) – 7(B)(1)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Health Agency, By the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or explore your city, county, state, or federal health agency, then compare two kinds of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leading causes of death in your community, for any of the past 5 years.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MORBIDITY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7432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leading causes of disease (illness) in your community over that same window.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0652760" cy="1920240"/>
          </a:xfrm>
          <a:prstGeom prst="roundRect">
            <a:avLst>
              <a:gd name="adj" fmla="val 3810"/>
            </a:avLst>
          </a:prstGeom>
          <a:solidFill>
            <a:srgbClr val="2C4A3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4523994"/>
            <a:ext cx="507492" cy="5074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91640" y="44348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explain: how is the agency working to bring both rates down?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91640" y="489204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screening programs, education campaigns, safety regulations, and access to care — the everyday work behind the statistics.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486400" cy="5486400"/>
          </a:xfrm>
          <a:prstGeom prst="ellipse">
            <a:avLst/>
          </a:prstGeom>
          <a:solidFill>
            <a:srgbClr val="1E33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7(B)(2) —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 Real Outbreak: Cyclospora, 2026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in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lettuce cluster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88036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incubation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16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331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Taylor Farms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lettuce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AGENCY RESPONDED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33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352044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24328" y="35204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3329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3520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8848" y="352044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0016" y="35204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3329"/>
          </a:solidFill>
          <a:ln/>
        </p:spPr>
      </p:sp>
      <p:sp>
        <p:nvSpPr>
          <p:cNvPr id="19" name="Text 17"/>
          <p:cNvSpPr/>
          <p:nvPr/>
        </p:nvSpPr>
        <p:spPr>
          <a:xfrm>
            <a:off x="4700016" y="3520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74536" y="352044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75704" y="35204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3329"/>
          </a:solidFill>
          <a:ln/>
        </p:spPr>
      </p:sp>
      <p:sp>
        <p:nvSpPr>
          <p:cNvPr id="22" name="Text 20"/>
          <p:cNvSpPr/>
          <p:nvPr/>
        </p:nvSpPr>
        <p:spPr>
          <a:xfrm>
            <a:off x="6775704" y="3520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50224" y="352044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51392" y="3520440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E3329"/>
          </a:solidFill>
          <a:ln/>
        </p:spPr>
      </p:sp>
      <p:sp>
        <p:nvSpPr>
          <p:cNvPr id="25" name="Text 23"/>
          <p:cNvSpPr/>
          <p:nvPr/>
        </p:nvSpPr>
        <p:spPr>
          <a:xfrm>
            <a:off x="8851392" y="3520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0652760" cy="1508760"/>
          </a:xfrm>
          <a:prstGeom prst="roundRect">
            <a:avLst>
              <a:gd name="adj" fmla="val 4848"/>
            </a:avLst>
          </a:prstGeom>
          <a:solidFill>
            <a:srgbClr val="F4EFE3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4937760"/>
            <a:ext cx="685800" cy="685800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5026914"/>
            <a:ext cx="507492" cy="50749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91640" y="48920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tool: a personal food history interview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91640" y="525780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symptoms start a week or more after exposure, investigators use a detailed food checklist — not open memory — to reconstruct 14 days of meals. One interview proves nothing; dozens naming the same lettuce reveal the outbreak.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7(B)(3)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Disaster Strikes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Floods, storms, tornadoes, earthquakes — health agencies play a role long after the news cameras leave.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32888"/>
            <a:ext cx="777240" cy="777240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2633929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231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shelter &amp; clinics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160520" y="2148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532888"/>
            <a:ext cx="777240" cy="777240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161" y="2633929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4231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testing &amp; safe supply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772400" y="2148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01000" y="2532888"/>
            <a:ext cx="777240" cy="777240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041" y="2633929"/>
            <a:ext cx="575158" cy="5751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0" y="24231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inspection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38862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4270248"/>
            <a:ext cx="777240" cy="777240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" y="4371289"/>
            <a:ext cx="575158" cy="57515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160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services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160520" y="38862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389120" y="4270248"/>
            <a:ext cx="777240" cy="777240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161" y="4371289"/>
            <a:ext cx="575158" cy="57515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4160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support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7772400" y="38862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2620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001000" y="4270248"/>
            <a:ext cx="777240" cy="777240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041" y="4371289"/>
            <a:ext cx="575158" cy="57515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961120" y="4160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&amp; mold cleanup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Trail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public health profession. Research its education, training, and experience — then discuss it with your counselor.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E3329"/>
          </a:solidFill>
          <a:ln/>
        </p:spPr>
      </p:sp>
      <p:sp>
        <p:nvSpPr>
          <p:cNvPr id="6" name="Shape 4"/>
          <p:cNvSpPr/>
          <p:nvPr/>
        </p:nvSpPr>
        <p:spPr>
          <a:xfrm>
            <a:off x="1046988" y="2377440"/>
            <a:ext cx="694944" cy="694944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331" y="2467783"/>
            <a:ext cx="514259" cy="5142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2316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E3329"/>
          </a:solidFill>
          <a:ln/>
        </p:spPr>
      </p:sp>
      <p:sp>
        <p:nvSpPr>
          <p:cNvPr id="10" name="Shape 7"/>
          <p:cNvSpPr/>
          <p:nvPr/>
        </p:nvSpPr>
        <p:spPr>
          <a:xfrm>
            <a:off x="2921508" y="2377440"/>
            <a:ext cx="694944" cy="694944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851" y="2467783"/>
            <a:ext cx="514259" cy="5142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3200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Biostatistician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9768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E3329"/>
          </a:solidFill>
          <a:ln/>
        </p:spPr>
      </p:sp>
      <p:sp>
        <p:nvSpPr>
          <p:cNvPr id="14" name="Shape 10"/>
          <p:cNvSpPr/>
          <p:nvPr/>
        </p:nvSpPr>
        <p:spPr>
          <a:xfrm>
            <a:off x="4796028" y="2377440"/>
            <a:ext cx="694944" cy="694944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71" y="2467783"/>
            <a:ext cx="514259" cy="5142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0" y="3200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Informatician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7220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E3329"/>
          </a:solidFill>
          <a:ln/>
        </p:spPr>
      </p:sp>
      <p:sp>
        <p:nvSpPr>
          <p:cNvPr id="18" name="Shape 13"/>
          <p:cNvSpPr/>
          <p:nvPr/>
        </p:nvSpPr>
        <p:spPr>
          <a:xfrm>
            <a:off x="6670548" y="2377440"/>
            <a:ext cx="694944" cy="694944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891" y="2467783"/>
            <a:ext cx="514259" cy="5142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3640" y="3200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Nurse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04672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E3329"/>
          </a:solidFill>
          <a:ln/>
        </p:spPr>
      </p:sp>
      <p:sp>
        <p:nvSpPr>
          <p:cNvPr id="22" name="Shape 16"/>
          <p:cNvSpPr/>
          <p:nvPr/>
        </p:nvSpPr>
        <p:spPr>
          <a:xfrm>
            <a:off x="8545068" y="2377440"/>
            <a:ext cx="694944" cy="694944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411" y="2467783"/>
            <a:ext cx="514259" cy="51425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38160" y="3200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92124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E3329"/>
          </a:solidFill>
          <a:ln/>
        </p:spPr>
      </p:sp>
      <p:sp>
        <p:nvSpPr>
          <p:cNvPr id="26" name="Shape 19"/>
          <p:cNvSpPr/>
          <p:nvPr/>
        </p:nvSpPr>
        <p:spPr>
          <a:xfrm>
            <a:off x="10419588" y="2377440"/>
            <a:ext cx="694944" cy="694944"/>
          </a:xfrm>
          <a:prstGeom prst="ellipse">
            <a:avLst/>
          </a:prstGeom>
          <a:solidFill>
            <a:srgbClr val="F4EFE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931" y="2467783"/>
            <a:ext cx="514259" cy="51425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012680" y="3200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Inspector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48640" y="4343400"/>
            <a:ext cx="10652760" cy="1691640"/>
          </a:xfrm>
          <a:prstGeom prst="roundRect">
            <a:avLst>
              <a:gd name="adj" fmla="val 4324"/>
            </a:avLst>
          </a:prstGeom>
          <a:solidFill>
            <a:srgbClr val="F4EFE3"/>
          </a:solidFill>
          <a:ln/>
        </p:spPr>
      </p:sp>
      <p:sp>
        <p:nvSpPr>
          <p:cNvPr id="30" name="Shape 22"/>
          <p:cNvSpPr/>
          <p:nvPr/>
        </p:nvSpPr>
        <p:spPr>
          <a:xfrm>
            <a:off x="822960" y="4572000"/>
            <a:ext cx="685800" cy="685800"/>
          </a:xfrm>
          <a:prstGeom prst="ellipse">
            <a:avLst/>
          </a:prstGeom>
          <a:solidFill>
            <a:srgbClr val="2C4A3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114" y="4661154"/>
            <a:ext cx="507492" cy="5074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691640" y="45720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“Field Guide to Public Health Careers” handout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1691640" y="493776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career trailheads with typical schooling, credentials, and years to entry — use it to help pick your one profession for this requirement.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9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MERIT BADGE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11505895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329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E3329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C165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687" y="131947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14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Covered the Whole Trail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63040" y="329184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requirements down. Now it's time to talk it through with your counselor.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90008" y="4114800"/>
            <a:ext cx="2011680" cy="36576"/>
          </a:xfrm>
          <a:prstGeom prst="rect">
            <a:avLst/>
          </a:prstGeom>
          <a:solidFill>
            <a:srgbClr val="C1652E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8A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America — Public Health Merit Badge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2026-08-02T20:24:50Z</dcterms:created>
  <dcterms:modified xsi:type="dcterms:W3CDTF">2026-08-02T20:24:50Z</dcterms:modified>
</cp:coreProperties>
</file>